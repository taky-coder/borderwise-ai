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A4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498079" y="502920"/>
            <a:ext cx="4023360" cy="4023360"/>
          </a:xfrm>
          <a:prstGeom prst="ellipse">
            <a:avLst/>
          </a:prstGeom>
          <a:solidFill>
            <a:srgbClr val="145374"/>
          </a:solidFill>
          <a:ln>
            <a:solidFill>
              <a:srgbClr val="145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001000" y="1005840"/>
            <a:ext cx="3017520" cy="3017520"/>
          </a:xfrm>
          <a:prstGeom prst="ellipse">
            <a:avLst/>
          </a:prstGeom>
          <a:solidFill>
            <a:srgbClr val="168AAD"/>
          </a:solidFill>
          <a:ln>
            <a:solidFill>
              <a:srgbClr val="168A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549640" y="1554480"/>
            <a:ext cx="1920240" cy="1920240"/>
          </a:xfrm>
          <a:prstGeom prst="ellipse">
            <a:avLst/>
          </a:prstGeom>
          <a:solidFill>
            <a:srgbClr val="78D3E8"/>
          </a:solidFill>
          <a:ln>
            <a:solidFill>
              <a:srgbClr val="78D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613648" y="1645920"/>
            <a:ext cx="1792224" cy="1737360"/>
          </a:xfrm>
          <a:prstGeom prst="ellipse">
            <a:avLst/>
          </a:prstGeom>
          <a:noFill/>
          <a:ln w="889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650224" y="1645920"/>
            <a:ext cx="1719072" cy="1737360"/>
          </a:xfrm>
          <a:prstGeom prst="ellipse">
            <a:avLst/>
          </a:prstGeom>
          <a:noFill/>
          <a:ln w="889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686800" y="1645920"/>
            <a:ext cx="1645920" cy="1737360"/>
          </a:xfrm>
          <a:prstGeom prst="ellipse">
            <a:avLst/>
          </a:prstGeom>
          <a:noFill/>
          <a:ln w="889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23376" y="1645920"/>
            <a:ext cx="1572768" cy="1737360"/>
          </a:xfrm>
          <a:prstGeom prst="ellipse">
            <a:avLst/>
          </a:prstGeom>
          <a:noFill/>
          <a:ln w="889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759952" y="1645920"/>
            <a:ext cx="1499616" cy="1737360"/>
          </a:xfrm>
          <a:prstGeom prst="ellipse">
            <a:avLst/>
          </a:prstGeom>
          <a:noFill/>
          <a:ln w="889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94360" y="594360"/>
            <a:ext cx="1463040" cy="347472"/>
          </a:xfrm>
          <a:prstGeom prst="roundRect">
            <a:avLst/>
          </a:prstGeom>
          <a:solidFill>
            <a:srgbClr val="168AAD"/>
          </a:solidFill>
          <a:ln>
            <a:solidFill>
              <a:srgbClr val="168A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621792"/>
            <a:ext cx="1280160" cy="20116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900" b="1" i="0">
                <a:solidFill>
                  <a:srgbClr val="FFFFFF"/>
                </a:solidFill>
                <a:latin typeface="Aptos"/>
              </a:defRPr>
            </a:pPr>
            <a:r>
              <a:t>FINTECHATHON 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1417320"/>
            <a:ext cx="6583680" cy="82296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4200" b="1" i="0">
                <a:solidFill>
                  <a:srgbClr val="FFFFFF"/>
                </a:solidFill>
                <a:latin typeface="Aptos"/>
              </a:defRPr>
            </a:pPr>
            <a:r>
              <a:t>BorderWise AI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" y="2331720"/>
            <a:ext cx="6766560" cy="5029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2200" b="1" i="0">
                <a:solidFill>
                  <a:srgbClr val="78D3E8"/>
                </a:solidFill>
                <a:latin typeface="Aptos"/>
              </a:defRPr>
            </a:pPr>
            <a:r>
              <a:t>Cross-border &amp; Student Finance Assistant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3063240"/>
            <a:ext cx="6126480" cy="7315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700" b="0" i="0">
                <a:solidFill>
                  <a:srgbClr val="FFFFFF"/>
                </a:solidFill>
                <a:latin typeface="Aptos"/>
              </a:defRPr>
            </a:pPr>
            <a:r>
              <a:t>Plan study-abroad costs. Compare transfer quotes. Make assumptions visible.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5166360"/>
            <a:ext cx="3657600" cy="502920"/>
          </a:xfrm>
          <a:prstGeom prst="roundRect">
            <a:avLst/>
          </a:prstGeom>
          <a:solidFill>
            <a:srgbClr val="183C55"/>
          </a:solidFill>
          <a:ln>
            <a:solidFill>
              <a:srgbClr val="2B5B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1248" y="5294376"/>
            <a:ext cx="3337560" cy="20116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1000" b="1" i="0">
                <a:solidFill>
                  <a:srgbClr val="FFFFFF"/>
                </a:solidFill>
                <a:latin typeface="Aptos"/>
              </a:defRPr>
            </a:pPr>
            <a:r>
              <a:t>TEAM: [ADD TEAM NAME]  •  TRACK: TOPIC 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6035040"/>
            <a:ext cx="7955279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000" b="0" i="0">
                <a:solidFill>
                  <a:srgbClr val="C1D8E6"/>
                </a:solidFill>
                <a:latin typeface="Aptos"/>
              </a:defRPr>
            </a:pPr>
            <a:r>
              <a:t>Prototype: read-only estimates; no bank access or money movement.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20040"/>
            <a:ext cx="548640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900" b="1" i="0">
                <a:solidFill>
                  <a:srgbClr val="168AAD"/>
                </a:solidFill>
                <a:latin typeface="Aptos"/>
              </a:defRPr>
            </a:pPr>
            <a:r>
              <a:t>01 / 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58368"/>
            <a:ext cx="11064240" cy="53035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2900" b="1" i="0">
                <a:solidFill>
                  <a:srgbClr val="102A43"/>
                </a:solidFill>
                <a:latin typeface="Aptos"/>
              </a:defRPr>
            </a:pPr>
            <a:r>
              <a:t>One journey. Too many financial unknowns.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600200"/>
            <a:ext cx="5257800" cy="1572768"/>
          </a:xfrm>
          <a:prstGeom prst="roundRect">
            <a:avLst/>
          </a:prstGeom>
          <a:solidFill>
            <a:srgbClr val="F2F7FA"/>
          </a:solidFill>
          <a:ln>
            <a:solidFill>
              <a:srgbClr val="E1F1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59" y="1764792"/>
            <a:ext cx="54864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500" b="1" i="0">
                <a:solidFill>
                  <a:srgbClr val="168AAD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19" y="1746504"/>
            <a:ext cx="4069080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800" b="1" i="0">
                <a:solidFill>
                  <a:srgbClr val="102A43"/>
                </a:solidFill>
                <a:latin typeface="Aptos"/>
              </a:defRPr>
            </a:pPr>
            <a:r>
              <a:t>Tuition &amp; arrival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17319" y="2194560"/>
            <a:ext cx="4023360" cy="6400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300" b="0" i="0">
                <a:solidFill>
                  <a:srgbClr val="5D7080"/>
                </a:solidFill>
                <a:latin typeface="Aptos"/>
              </a:defRPr>
            </a:pPr>
            <a:r>
              <a:t>What must be paid before departure, and when?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600200"/>
            <a:ext cx="5257800" cy="1572768"/>
          </a:xfrm>
          <a:prstGeom prst="roundRect">
            <a:avLst/>
          </a:prstGeom>
          <a:solidFill>
            <a:srgbClr val="F2F7FA"/>
          </a:solidFill>
          <a:ln>
            <a:solidFill>
              <a:srgbClr val="E1F1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1764792"/>
            <a:ext cx="54864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500" b="1" i="0">
                <a:solidFill>
                  <a:srgbClr val="168AAD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40880" y="1746504"/>
            <a:ext cx="4069080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800" b="1" i="0">
                <a:solidFill>
                  <a:srgbClr val="102A43"/>
                </a:solidFill>
                <a:latin typeface="Aptos"/>
              </a:defRPr>
            </a:pPr>
            <a:r>
              <a:t>Monthly affordability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40880" y="2194560"/>
            <a:ext cx="4023360" cy="6400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300" b="0" i="0">
                <a:solidFill>
                  <a:srgbClr val="5D7080"/>
                </a:solidFill>
                <a:latin typeface="Aptos"/>
              </a:defRPr>
            </a:pPr>
            <a:r>
              <a:t>How do living costs compare with savings and family support?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611880"/>
            <a:ext cx="5257800" cy="1572768"/>
          </a:xfrm>
          <a:prstGeom prst="roundRect">
            <a:avLst/>
          </a:prstGeom>
          <a:solidFill>
            <a:srgbClr val="F2F7FA"/>
          </a:solidFill>
          <a:ln>
            <a:solidFill>
              <a:srgbClr val="E1F1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59" y="3776472"/>
            <a:ext cx="54864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500" b="1" i="0">
                <a:solidFill>
                  <a:srgbClr val="168AAD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19" y="3758184"/>
            <a:ext cx="4069080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800" b="1" i="0">
                <a:solidFill>
                  <a:srgbClr val="102A43"/>
                </a:solidFill>
                <a:latin typeface="Aptos"/>
              </a:defRPr>
            </a:pPr>
            <a:r>
              <a:t>Cross-border transfers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19" y="4206240"/>
            <a:ext cx="4023360" cy="6400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300" b="0" i="0">
                <a:solidFill>
                  <a:srgbClr val="5D7080"/>
                </a:solidFill>
                <a:latin typeface="Aptos"/>
              </a:defRPr>
            </a:pPr>
            <a:r>
              <a:t>Which quote delivers more after fees and FX conversion?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63640" y="3611880"/>
            <a:ext cx="5257800" cy="1572768"/>
          </a:xfrm>
          <a:prstGeom prst="roundRect">
            <a:avLst/>
          </a:prstGeom>
          <a:solidFill>
            <a:srgbClr val="F2F7FA"/>
          </a:solidFill>
          <a:ln>
            <a:solidFill>
              <a:srgbClr val="E1F1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46520" y="3776472"/>
            <a:ext cx="54864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500" b="1" i="0">
                <a:solidFill>
                  <a:srgbClr val="168AAD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40880" y="3758184"/>
            <a:ext cx="4069080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800" b="1" i="0">
                <a:solidFill>
                  <a:srgbClr val="102A43"/>
                </a:solidFill>
                <a:latin typeface="Aptos"/>
              </a:defRPr>
            </a:pPr>
            <a:r>
              <a:t>Credit &amp; readiness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40880" y="4206240"/>
            <a:ext cx="4023360" cy="6400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300" b="0" i="0">
                <a:solidFill>
                  <a:srgbClr val="5D7080"/>
                </a:solidFill>
                <a:latin typeface="Aptos"/>
              </a:defRPr>
            </a:pPr>
            <a:r>
              <a:t>What should a student verify before choosing a product?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" y="5760720"/>
            <a:ext cx="10881360" cy="438912"/>
          </a:xfrm>
          <a:prstGeom prst="roundRect">
            <a:avLst/>
          </a:prstGeom>
          <a:solidFill>
            <a:srgbClr val="102A43"/>
          </a:solidFill>
          <a:ln>
            <a:solidFill>
              <a:srgbClr val="102A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8680" y="5833872"/>
            <a:ext cx="10424160" cy="21945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1300" b="1" i="0">
                <a:solidFill>
                  <a:srgbClr val="FFFFFF"/>
                </a:solidFill>
                <a:latin typeface="Aptos"/>
              </a:defRPr>
            </a:pPr>
            <a:r>
              <a:t>The risk is not only high cost — it is making decisions with unclear assumptions.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537960"/>
            <a:ext cx="8046720" cy="16459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800" b="1" i="0">
                <a:solidFill>
                  <a:srgbClr val="5D7080"/>
                </a:solidFill>
                <a:latin typeface="Aptos"/>
              </a:defRPr>
            </a:pPr>
            <a:r>
              <a:t>BORDERWISE AI  /  FINTECHATHON 2026  /  TOPIC C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155680" y="6510528"/>
            <a:ext cx="502920" cy="20116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r">
              <a:defRPr sz="900" b="1" i="0">
                <a:solidFill>
                  <a:srgbClr val="168AAD"/>
                </a:solidFill>
                <a:latin typeface="Aptos"/>
              </a:defRPr>
            </a:pPr>
            <a: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20040"/>
            <a:ext cx="548640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900" b="1" i="0">
                <a:solidFill>
                  <a:srgbClr val="168AAD"/>
                </a:solidFill>
                <a:latin typeface="Aptos"/>
              </a:defRPr>
            </a:pPr>
            <a:r>
              <a:t>02 / THE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58368"/>
            <a:ext cx="11064240" cy="53035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2900" b="1" i="0">
                <a:solidFill>
                  <a:srgbClr val="102A43"/>
                </a:solidFill>
                <a:latin typeface="Aptos"/>
              </a:defRPr>
            </a:pPr>
            <a:r>
              <a:t>A practical finance companion — not a black box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554480"/>
            <a:ext cx="3657600" cy="4297680"/>
          </a:xfrm>
          <a:prstGeom prst="roundRect">
            <a:avLst/>
          </a:prstGeom>
          <a:solidFill>
            <a:srgbClr val="102A43"/>
          </a:solidFill>
          <a:ln>
            <a:solidFill>
              <a:srgbClr val="102A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74519"/>
            <a:ext cx="3108960" cy="4572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2300" b="1" i="0">
                <a:solidFill>
                  <a:srgbClr val="FFFFFF"/>
                </a:solidFill>
                <a:latin typeface="Aptos"/>
              </a:defRPr>
            </a:pPr>
            <a:r>
              <a:t>BORDERWISE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2560320"/>
            <a:ext cx="3017520" cy="82296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1600" b="1" i="0">
                <a:solidFill>
                  <a:srgbClr val="78D3E8"/>
                </a:solidFill>
                <a:latin typeface="Aptos"/>
              </a:defRPr>
            </a:pPr>
            <a:r>
              <a:t>User inputs  →  transparent tools  →  inspectable results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3794760"/>
            <a:ext cx="3017520" cy="9144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1400" b="0" i="0">
                <a:solidFill>
                  <a:srgbClr val="FFFFFF"/>
                </a:solidFill>
                <a:latin typeface="Aptos"/>
              </a:defRPr>
            </a:pPr>
            <a:r>
              <a:t>Every rate is labeled. Every formula is auditable. No external payment action exists.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709160" y="1572768"/>
            <a:ext cx="6629400" cy="822960"/>
          </a:xfrm>
          <a:prstGeom prst="roundRect">
            <a:avLst/>
          </a:prstGeom>
          <a:solidFill>
            <a:srgbClr val="F2F7FA"/>
          </a:solidFill>
          <a:ln>
            <a:solidFill>
              <a:srgbClr val="E1F1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956048" y="1682495"/>
            <a:ext cx="1920240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500" b="1" i="0">
                <a:solidFill>
                  <a:srgbClr val="168AAD"/>
                </a:solidFill>
                <a:latin typeface="Aptos"/>
              </a:defRPr>
            </a:pPr>
            <a:r>
              <a:t>Budget planner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20840" y="1682495"/>
            <a:ext cx="4297680" cy="47548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1200" b="0" i="0">
                <a:solidFill>
                  <a:srgbClr val="1E3141"/>
                </a:solidFill>
                <a:latin typeface="Aptos"/>
              </a:defRPr>
            </a:pPr>
            <a:r>
              <a:t>Upfront cost + monthly burn + available funding → funding gap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709160" y="2596896"/>
            <a:ext cx="6629400" cy="822960"/>
          </a:xfrm>
          <a:prstGeom prst="roundRect">
            <a:avLst/>
          </a:prstGeom>
          <a:solidFill>
            <a:srgbClr val="F2F7FA"/>
          </a:solidFill>
          <a:ln>
            <a:solidFill>
              <a:srgbClr val="E1F1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956048" y="2706624"/>
            <a:ext cx="1920240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500" b="1" i="0">
                <a:solidFill>
                  <a:srgbClr val="168AAD"/>
                </a:solidFill>
                <a:latin typeface="Aptos"/>
              </a:defRPr>
            </a:pPr>
            <a:r>
              <a:t>Transfer comparison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20840" y="2706624"/>
            <a:ext cx="4297680" cy="47548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1200" b="0" i="0">
                <a:solidFill>
                  <a:srgbClr val="1E3141"/>
                </a:solidFill>
                <a:latin typeface="Aptos"/>
              </a:defRPr>
            </a:pPr>
            <a:r>
              <a:t>Same total BDT budget → estimated recipient amounts ranked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709160" y="3621024"/>
            <a:ext cx="6629400" cy="822960"/>
          </a:xfrm>
          <a:prstGeom prst="roundRect">
            <a:avLst/>
          </a:prstGeom>
          <a:solidFill>
            <a:srgbClr val="F2F7FA"/>
          </a:solidFill>
          <a:ln>
            <a:solidFill>
              <a:srgbClr val="E1F1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956048" y="3730752"/>
            <a:ext cx="1920240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500" b="1" i="0">
                <a:solidFill>
                  <a:srgbClr val="168AAD"/>
                </a:solidFill>
                <a:latin typeface="Aptos"/>
              </a:defRPr>
            </a:pPr>
            <a:r>
              <a:t>Credit &amp; readiness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20840" y="3730752"/>
            <a:ext cx="4297680" cy="47548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1200" b="0" i="0">
                <a:solidFill>
                  <a:srgbClr val="1E3141"/>
                </a:solidFill>
                <a:latin typeface="Aptos"/>
              </a:defRPr>
            </a:pPr>
            <a:r>
              <a:t>Questions to ask providers and official authorities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709160" y="4645152"/>
            <a:ext cx="6629400" cy="822960"/>
          </a:xfrm>
          <a:prstGeom prst="roundRect">
            <a:avLst/>
          </a:prstGeom>
          <a:solidFill>
            <a:srgbClr val="F2F7FA"/>
          </a:solidFill>
          <a:ln>
            <a:solidFill>
              <a:srgbClr val="E1F1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956048" y="4754880"/>
            <a:ext cx="1920240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500" b="1" i="0">
                <a:solidFill>
                  <a:srgbClr val="168AAD"/>
                </a:solidFill>
                <a:latin typeface="Aptos"/>
              </a:defRPr>
            </a:pPr>
            <a:r>
              <a:t>Ask agent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20840" y="4754880"/>
            <a:ext cx="4297680" cy="47548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1200" b="0" i="0">
                <a:solidFill>
                  <a:srgbClr val="1E3141"/>
                </a:solidFill>
                <a:latin typeface="Aptos"/>
              </a:defRPr>
            </a:pPr>
            <a:r>
              <a:t>Bounded explanations; safe fallback when no model key is configured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537960"/>
            <a:ext cx="8046720" cy="16459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800" b="1" i="0">
                <a:solidFill>
                  <a:srgbClr val="5D7080"/>
                </a:solidFill>
                <a:latin typeface="Aptos"/>
              </a:defRPr>
            </a:pPr>
            <a:r>
              <a:t>BORDERWISE AI  /  FINTECHATHON 2026  /  TOPIC 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55680" y="6510528"/>
            <a:ext cx="502920" cy="20116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r">
              <a:defRPr sz="900" b="1" i="0">
                <a:solidFill>
                  <a:srgbClr val="168AAD"/>
                </a:solidFill>
                <a:latin typeface="Aptos"/>
              </a:defRPr>
            </a:pPr>
            <a: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20040"/>
            <a:ext cx="548640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900" b="1" i="0">
                <a:solidFill>
                  <a:srgbClr val="168AAD"/>
                </a:solidFill>
                <a:latin typeface="Aptos"/>
              </a:defRPr>
            </a:pPr>
            <a:r>
              <a:t>03 / DEMO JOURNEY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58368"/>
            <a:ext cx="11064240" cy="53035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2900" b="1" i="0">
                <a:solidFill>
                  <a:srgbClr val="102A43"/>
                </a:solidFill>
                <a:latin typeface="Aptos"/>
              </a:defRPr>
            </a:pPr>
            <a:r>
              <a:t>From a question to a decision-ready estimate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828800"/>
            <a:ext cx="2514600" cy="2560320"/>
          </a:xfrm>
          <a:prstGeom prst="roundRect">
            <a:avLst/>
          </a:prstGeom>
          <a:solidFill>
            <a:srgbClr val="F2F7FA"/>
          </a:solidFill>
          <a:ln>
            <a:solidFill>
              <a:srgbClr val="E1F1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417319" y="2148840"/>
            <a:ext cx="960120" cy="960120"/>
          </a:xfrm>
          <a:prstGeom prst="ellipse">
            <a:avLst/>
          </a:prstGeom>
          <a:solidFill>
            <a:srgbClr val="168AAD"/>
          </a:solidFill>
          <a:ln>
            <a:solidFill>
              <a:srgbClr val="168A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417319" y="2459736"/>
            <a:ext cx="960120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1900" b="1" i="0">
                <a:solidFill>
                  <a:srgbClr val="FFFFFF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364992"/>
            <a:ext cx="224028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1700" b="1" i="0">
                <a:solidFill>
                  <a:srgbClr val="102A43"/>
                </a:solidFill>
                <a:latin typeface="Aptos"/>
              </a:defRPr>
            </a:pPr>
            <a:r>
              <a:t>Enter assumptions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1" y="3794760"/>
            <a:ext cx="219456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1100" b="0" i="0">
                <a:solidFill>
                  <a:srgbClr val="5D7080"/>
                </a:solidFill>
                <a:latin typeface="Aptos"/>
              </a:defRPr>
            </a:pPr>
            <a:r>
              <a:t>Costs, savings, support, reference FX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82111" y="2862072"/>
            <a:ext cx="32004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2000" b="1" i="0">
                <a:solidFill>
                  <a:srgbClr val="168AAD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20439" y="1828800"/>
            <a:ext cx="2514600" cy="2560320"/>
          </a:xfrm>
          <a:prstGeom prst="roundRect">
            <a:avLst/>
          </a:prstGeom>
          <a:solidFill>
            <a:srgbClr val="F2F7FA"/>
          </a:solidFill>
          <a:ln>
            <a:solidFill>
              <a:srgbClr val="E1F1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297679" y="2148840"/>
            <a:ext cx="960120" cy="960120"/>
          </a:xfrm>
          <a:prstGeom prst="ellipse">
            <a:avLst/>
          </a:prstGeom>
          <a:solidFill>
            <a:srgbClr val="168AAD"/>
          </a:solidFill>
          <a:ln>
            <a:solidFill>
              <a:srgbClr val="168A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97679" y="2459736"/>
            <a:ext cx="960120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1900" b="1" i="0">
                <a:solidFill>
                  <a:srgbClr val="FFFFFF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599" y="3364992"/>
            <a:ext cx="224028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1700" b="1" i="0">
                <a:solidFill>
                  <a:srgbClr val="102A43"/>
                </a:solidFill>
                <a:latin typeface="Aptos"/>
              </a:defRPr>
            </a:pPr>
            <a:r>
              <a:t>Calculate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85031" y="3794760"/>
            <a:ext cx="219456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1100" b="0" i="0">
                <a:solidFill>
                  <a:srgbClr val="5D7080"/>
                </a:solidFill>
                <a:latin typeface="Aptos"/>
              </a:defRPr>
            </a:pPr>
            <a:r>
              <a:t>Funding gap in destination currency and BDT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62471" y="2862072"/>
            <a:ext cx="32004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2000" b="1" i="0">
                <a:solidFill>
                  <a:srgbClr val="168AAD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0" y="1828800"/>
            <a:ext cx="2514600" cy="2560320"/>
          </a:xfrm>
          <a:prstGeom prst="roundRect">
            <a:avLst/>
          </a:prstGeom>
          <a:solidFill>
            <a:srgbClr val="F2F7FA"/>
          </a:solidFill>
          <a:ln>
            <a:solidFill>
              <a:srgbClr val="E1F1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178040" y="2148840"/>
            <a:ext cx="960120" cy="960120"/>
          </a:xfrm>
          <a:prstGeom prst="ellipse">
            <a:avLst/>
          </a:prstGeom>
          <a:solidFill>
            <a:srgbClr val="168AAD"/>
          </a:solidFill>
          <a:ln>
            <a:solidFill>
              <a:srgbClr val="168A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178040" y="2459736"/>
            <a:ext cx="960120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1900" b="1" i="0">
                <a:solidFill>
                  <a:srgbClr val="FFFFFF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37960" y="3364992"/>
            <a:ext cx="224028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1700" b="1" i="0">
                <a:solidFill>
                  <a:srgbClr val="102A43"/>
                </a:solidFill>
                <a:latin typeface="Aptos"/>
              </a:defRPr>
            </a:pPr>
            <a:r>
              <a:t>Compare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65392" y="3794760"/>
            <a:ext cx="219456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1100" b="0" i="0">
                <a:solidFill>
                  <a:srgbClr val="5D7080"/>
                </a:solidFill>
                <a:latin typeface="Aptos"/>
              </a:defRPr>
            </a:pPr>
            <a:r>
              <a:t>Two provider quotes under one transfer budget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42832" y="2862072"/>
            <a:ext cx="32004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2000" b="1" i="0">
                <a:solidFill>
                  <a:srgbClr val="168AAD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281159" y="1828800"/>
            <a:ext cx="2514600" cy="2560320"/>
          </a:xfrm>
          <a:prstGeom prst="roundRect">
            <a:avLst/>
          </a:prstGeom>
          <a:solidFill>
            <a:srgbClr val="F2F7FA"/>
          </a:solidFill>
          <a:ln>
            <a:solidFill>
              <a:srgbClr val="E1F1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058399" y="2148840"/>
            <a:ext cx="960120" cy="960120"/>
          </a:xfrm>
          <a:prstGeom prst="ellipse">
            <a:avLst/>
          </a:prstGeom>
          <a:solidFill>
            <a:srgbClr val="168AAD"/>
          </a:solidFill>
          <a:ln>
            <a:solidFill>
              <a:srgbClr val="168A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058399" y="2459736"/>
            <a:ext cx="960120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1900" b="1" i="0">
                <a:solidFill>
                  <a:srgbClr val="FFFFFF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18319" y="3364992"/>
            <a:ext cx="224028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1700" b="1" i="0">
                <a:solidFill>
                  <a:srgbClr val="102A43"/>
                </a:solidFill>
                <a:latin typeface="Aptos"/>
              </a:defRPr>
            </a:pPr>
            <a:r>
              <a:t>Verify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45751" y="3794760"/>
            <a:ext cx="219456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1100" b="0" i="0">
                <a:solidFill>
                  <a:srgbClr val="5D7080"/>
                </a:solidFill>
                <a:latin typeface="Aptos"/>
              </a:defRPr>
            </a:pPr>
            <a:r>
              <a:t>Check official requirements and provider terms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31520" y="5029200"/>
            <a:ext cx="10698480" cy="749808"/>
          </a:xfrm>
          <a:prstGeom prst="roundRect">
            <a:avLst/>
          </a:prstGeom>
          <a:solidFill>
            <a:srgbClr val="E1F1F7"/>
          </a:solidFill>
          <a:ln>
            <a:solidFill>
              <a:srgbClr val="E1F1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0" y="5230368"/>
            <a:ext cx="10332720" cy="2926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1600" b="1" i="0">
                <a:solidFill>
                  <a:srgbClr val="102A43"/>
                </a:solidFill>
                <a:latin typeface="Aptos"/>
              </a:defRPr>
            </a:pPr>
            <a:r>
              <a:t>Example values are fictional. The user owns the assumptions; the agent exposes the math.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" y="6537960"/>
            <a:ext cx="8046720" cy="16459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800" b="1" i="0">
                <a:solidFill>
                  <a:srgbClr val="5D7080"/>
                </a:solidFill>
                <a:latin typeface="Aptos"/>
              </a:defRPr>
            </a:pPr>
            <a:r>
              <a:t>BORDERWISE AI  /  FINTECHATHON 2026  /  TOPIC C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155680" y="6510528"/>
            <a:ext cx="502920" cy="20116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r">
              <a:defRPr sz="900" b="1" i="0">
                <a:solidFill>
                  <a:srgbClr val="168AAD"/>
                </a:solidFill>
                <a:latin typeface="Aptos"/>
              </a:defRPr>
            </a:pPr>
            <a: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20040"/>
            <a:ext cx="548640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900" b="1" i="0">
                <a:solidFill>
                  <a:srgbClr val="168AAD"/>
                </a:solidFill>
                <a:latin typeface="Aptos"/>
              </a:defRPr>
            </a:pPr>
            <a:r>
              <a:t>04 / SYSTEM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58368"/>
            <a:ext cx="11064240" cy="53035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2900" b="1" i="0">
                <a:solidFill>
                  <a:srgbClr val="102A43"/>
                </a:solidFill>
                <a:latin typeface="Aptos"/>
              </a:defRPr>
            </a:pPr>
            <a:r>
              <a:t>Simple architecture. Controlled capabilities.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251960" y="1371600"/>
            <a:ext cx="3657600" cy="566928"/>
          </a:xfrm>
          <a:prstGeom prst="roundRect">
            <a:avLst/>
          </a:prstGeom>
          <a:solidFill>
            <a:srgbClr val="102A43"/>
          </a:solidFill>
          <a:ln>
            <a:solidFill>
              <a:srgbClr val="102A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343400" y="1517904"/>
            <a:ext cx="3474720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1600" b="1" i="0">
                <a:solidFill>
                  <a:srgbClr val="FFFFFF"/>
                </a:solidFill>
                <a:latin typeface="Aptos"/>
              </a:defRPr>
            </a:pPr>
            <a:r>
              <a:t>Student / Judge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080760" y="1938528"/>
            <a:ext cx="0" cy="393192"/>
          </a:xfrm>
          <a:prstGeom prst="line">
            <a:avLst/>
          </a:prstGeom>
          <a:ln>
            <a:solidFill>
              <a:srgbClr val="168AA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3429000" y="2331720"/>
            <a:ext cx="5303520" cy="658368"/>
          </a:xfrm>
          <a:prstGeom prst="roundRect">
            <a:avLst/>
          </a:prstGeom>
          <a:solidFill>
            <a:srgbClr val="E1F1F7"/>
          </a:solidFill>
          <a:ln>
            <a:solidFill>
              <a:srgbClr val="E1F1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11880" y="2505456"/>
            <a:ext cx="4937760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1700" b="1" i="0">
                <a:solidFill>
                  <a:srgbClr val="102A43"/>
                </a:solidFill>
                <a:latin typeface="Aptos"/>
              </a:defRPr>
            </a:pPr>
            <a:r>
              <a:t>Local browser UI + Python server</a:t>
            </a:r>
          </a:p>
        </p:txBody>
      </p:sp>
      <p:cxnSp>
        <p:nvCxnSpPr>
          <p:cNvPr id="9" name="Connector 8"/>
          <p:cNvCxnSpPr/>
          <p:nvPr/>
        </p:nvCxnSpPr>
        <p:spPr>
          <a:xfrm flipH="1">
            <a:off x="3017520" y="2990088"/>
            <a:ext cx="3063240" cy="438912"/>
          </a:xfrm>
          <a:prstGeom prst="line">
            <a:avLst/>
          </a:prstGeom>
          <a:ln>
            <a:solidFill>
              <a:srgbClr val="168AA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080760" y="2990088"/>
            <a:ext cx="3017520" cy="438912"/>
          </a:xfrm>
          <a:prstGeom prst="line">
            <a:avLst/>
          </a:prstGeom>
          <a:ln>
            <a:solidFill>
              <a:srgbClr val="168AA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640080" y="3429000"/>
            <a:ext cx="4663440" cy="1143000"/>
          </a:xfrm>
          <a:prstGeom prst="roundRect">
            <a:avLst/>
          </a:prstGeom>
          <a:solidFill>
            <a:srgbClr val="F2F7FA"/>
          </a:solidFill>
          <a:ln>
            <a:solidFill>
              <a:srgbClr val="E1F1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3611880"/>
            <a:ext cx="420624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1700" b="1" i="0">
                <a:solidFill>
                  <a:srgbClr val="102A43"/>
                </a:solidFill>
                <a:latin typeface="Aptos"/>
              </a:defRPr>
            </a:pPr>
            <a:r>
              <a:t>Deterministic calculation tools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4023360"/>
            <a:ext cx="420624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1100" b="0" i="0">
                <a:solidFill>
                  <a:srgbClr val="5D7080"/>
                </a:solidFill>
                <a:latin typeface="Aptos"/>
              </a:defRPr>
            </a:pPr>
            <a:r>
              <a:t>Budget formula • quote ranking • input validation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903720" y="3429000"/>
            <a:ext cx="4663440" cy="1143000"/>
          </a:xfrm>
          <a:prstGeom prst="roundRect">
            <a:avLst/>
          </a:prstGeom>
          <a:solidFill>
            <a:srgbClr val="F2F7FA"/>
          </a:solidFill>
          <a:ln>
            <a:solidFill>
              <a:srgbClr val="E1F1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132320" y="3611880"/>
            <a:ext cx="420624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1700" b="1" i="0">
                <a:solidFill>
                  <a:srgbClr val="102A43"/>
                </a:solidFill>
                <a:latin typeface="Aptos"/>
              </a:defRPr>
            </a:pPr>
            <a:r>
              <a:t>Optional LLM controller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0" y="4023360"/>
            <a:ext cx="420624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1100" b="0" i="0">
                <a:solidFill>
                  <a:srgbClr val="5D7080"/>
                </a:solidFill>
                <a:latin typeface="Aptos"/>
              </a:defRPr>
            </a:pPr>
            <a:r>
              <a:t>Tool allowlist • fallback mode • bounded loop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2971800" y="4572000"/>
            <a:ext cx="0" cy="384048"/>
          </a:xfrm>
          <a:prstGeom prst="line">
            <a:avLst/>
          </a:prstGeom>
          <a:ln>
            <a:solidFill>
              <a:srgbClr val="168AA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9235440" y="4572000"/>
            <a:ext cx="0" cy="384048"/>
          </a:xfrm>
          <a:prstGeom prst="line">
            <a:avLst/>
          </a:prstGeom>
          <a:ln>
            <a:solidFill>
              <a:srgbClr val="168AA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640080" y="4956048"/>
            <a:ext cx="4663440" cy="731520"/>
          </a:xfrm>
          <a:prstGeom prst="roundRect">
            <a:avLst/>
          </a:prstGeom>
          <a:solidFill>
            <a:srgbClr val="145374"/>
          </a:solidFill>
          <a:ln>
            <a:solidFill>
              <a:srgbClr val="145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5166360"/>
            <a:ext cx="4297680" cy="2468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1400" b="1" i="0">
                <a:solidFill>
                  <a:srgbClr val="FFFFFF"/>
                </a:solidFill>
                <a:latin typeface="Aptos"/>
              </a:defRPr>
            </a:pPr>
            <a:r>
              <a:t>Calculated results + JSON export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903720" y="4956048"/>
            <a:ext cx="4663440" cy="731520"/>
          </a:xfrm>
          <a:prstGeom prst="roundRect">
            <a:avLst/>
          </a:prstGeom>
          <a:solidFill>
            <a:srgbClr val="145374"/>
          </a:solidFill>
          <a:ln>
            <a:solidFill>
              <a:srgbClr val="145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086600" y="5166360"/>
            <a:ext cx="4297680" cy="2468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1400" b="1" i="0">
                <a:solidFill>
                  <a:srgbClr val="FFFFFF"/>
                </a:solidFill>
                <a:latin typeface="Aptos"/>
              </a:defRPr>
            </a:pPr>
            <a:r>
              <a:t>Privacy-minimized event log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537960"/>
            <a:ext cx="8046720" cy="16459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800" b="1" i="0">
                <a:solidFill>
                  <a:srgbClr val="5D7080"/>
                </a:solidFill>
                <a:latin typeface="Aptos"/>
              </a:defRPr>
            </a:pPr>
            <a:r>
              <a:t>BORDERWISE AI  /  FINTECHATHON 2026  /  TOPIC C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55680" y="6510528"/>
            <a:ext cx="502920" cy="20116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r">
              <a:defRPr sz="900" b="1" i="0">
                <a:solidFill>
                  <a:srgbClr val="168AAD"/>
                </a:solidFill>
                <a:latin typeface="Aptos"/>
              </a:defRPr>
            </a:pPr>
            <a: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20040"/>
            <a:ext cx="548640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900" b="1" i="0">
                <a:solidFill>
                  <a:srgbClr val="168AAD"/>
                </a:solidFill>
                <a:latin typeface="Aptos"/>
              </a:defRPr>
            </a:pPr>
            <a:r>
              <a:t>05 / SECURITY &amp;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58368"/>
            <a:ext cx="11064240" cy="53035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2900" b="1" i="0">
                <a:solidFill>
                  <a:srgbClr val="102A43"/>
                </a:solidFill>
                <a:latin typeface="Aptos"/>
              </a:defRPr>
            </a:pPr>
            <a:r>
              <a:t>Safety is part of the product, not a disclaimer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2057400" cy="594360"/>
          </a:xfrm>
          <a:prstGeom prst="roundRect">
            <a:avLst/>
          </a:prstGeom>
          <a:solidFill>
            <a:srgbClr val="3A9173"/>
          </a:solidFill>
          <a:ln>
            <a:solidFill>
              <a:srgbClr val="3A91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32104" y="1627632"/>
            <a:ext cx="1865376" cy="21945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1100" b="1" i="0">
                <a:solidFill>
                  <a:srgbClr val="FFFFFF"/>
                </a:solidFill>
                <a:latin typeface="Aptos"/>
              </a:defRPr>
            </a:pPr>
            <a:r>
              <a:t>READ-ONLY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063240" y="1463040"/>
            <a:ext cx="8229600" cy="594360"/>
          </a:xfrm>
          <a:prstGeom prst="roundRect">
            <a:avLst/>
          </a:prstGeom>
          <a:solidFill>
            <a:srgbClr val="F2F7FA"/>
          </a:solidFill>
          <a:ln>
            <a:solidFill>
              <a:srgbClr val="E1F1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91840" y="1600200"/>
            <a:ext cx="7772400" cy="31089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1300" b="0" i="0">
                <a:solidFill>
                  <a:srgbClr val="1E3141"/>
                </a:solidFill>
                <a:latin typeface="Aptos"/>
              </a:defRPr>
            </a:pPr>
            <a:r>
              <a:t>No transfer, account login, credit application or document submission tools.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322576"/>
            <a:ext cx="2057400" cy="594360"/>
          </a:xfrm>
          <a:prstGeom prst="roundRect">
            <a:avLst/>
          </a:prstGeom>
          <a:solidFill>
            <a:srgbClr val="168AAD"/>
          </a:solidFill>
          <a:ln>
            <a:solidFill>
              <a:srgbClr val="168A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2104" y="2487168"/>
            <a:ext cx="1865376" cy="21945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1100" b="1" i="0">
                <a:solidFill>
                  <a:srgbClr val="FFFFFF"/>
                </a:solidFill>
                <a:latin typeface="Aptos"/>
              </a:defRPr>
            </a:pPr>
            <a:r>
              <a:t>ALLOWLISTED TOOLS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063240" y="2322576"/>
            <a:ext cx="8229600" cy="594360"/>
          </a:xfrm>
          <a:prstGeom prst="roundRect">
            <a:avLst/>
          </a:prstGeom>
          <a:solidFill>
            <a:srgbClr val="F2F7FA"/>
          </a:solidFill>
          <a:ln>
            <a:solidFill>
              <a:srgbClr val="E1F1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91840" y="2459736"/>
            <a:ext cx="7772400" cy="31089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1300" b="0" i="0">
                <a:solidFill>
                  <a:srgbClr val="1E3141"/>
                </a:solidFill>
                <a:latin typeface="Aptos"/>
              </a:defRPr>
            </a:pPr>
            <a:r>
              <a:t>Only the two calculator functions may execute from model tool calls.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182112"/>
            <a:ext cx="2057400" cy="594360"/>
          </a:xfrm>
          <a:prstGeom prst="roundRect">
            <a:avLst/>
          </a:prstGeom>
          <a:solidFill>
            <a:srgbClr val="F3B748"/>
          </a:solidFill>
          <a:ln>
            <a:solidFill>
              <a:srgbClr val="F3B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2104" y="3346704"/>
            <a:ext cx="1865376" cy="21945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1100" b="1" i="0">
                <a:solidFill>
                  <a:srgbClr val="FFFFFF"/>
                </a:solidFill>
                <a:latin typeface="Aptos"/>
              </a:defRPr>
            </a:pPr>
            <a:r>
              <a:t>NO LIVE CLAIMS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063240" y="3182112"/>
            <a:ext cx="8229600" cy="594360"/>
          </a:xfrm>
          <a:prstGeom prst="roundRect">
            <a:avLst/>
          </a:prstGeom>
          <a:solidFill>
            <a:srgbClr val="F2F7FA"/>
          </a:solidFill>
          <a:ln>
            <a:solidFill>
              <a:srgbClr val="E1F1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91840" y="3319272"/>
            <a:ext cx="7772400" cy="31089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1300" b="0" i="0">
                <a:solidFill>
                  <a:srgbClr val="1E3141"/>
                </a:solidFill>
                <a:latin typeface="Aptos"/>
              </a:defRPr>
            </a:pPr>
            <a:r>
              <a:t>User-entered rates are not represented as current or independently verified.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4041648"/>
            <a:ext cx="2057400" cy="594360"/>
          </a:xfrm>
          <a:prstGeom prst="roundRect">
            <a:avLst/>
          </a:prstGeom>
          <a:solidFill>
            <a:srgbClr val="145374"/>
          </a:solidFill>
          <a:ln>
            <a:solidFill>
              <a:srgbClr val="145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2104" y="4206240"/>
            <a:ext cx="1865376" cy="21945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1100" b="1" i="0">
                <a:solidFill>
                  <a:srgbClr val="FFFFFF"/>
                </a:solidFill>
                <a:latin typeface="Aptos"/>
              </a:defRPr>
            </a:pPr>
            <a:r>
              <a:t>PRIVACY-MINIMIZED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063240" y="4041648"/>
            <a:ext cx="8229600" cy="594360"/>
          </a:xfrm>
          <a:prstGeom prst="roundRect">
            <a:avLst/>
          </a:prstGeom>
          <a:solidFill>
            <a:srgbClr val="F2F7FA"/>
          </a:solidFill>
          <a:ln>
            <a:solidFill>
              <a:srgbClr val="E1F1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291840" y="4178808"/>
            <a:ext cx="7772400" cy="31089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1300" b="0" i="0">
                <a:solidFill>
                  <a:srgbClr val="1E3141"/>
                </a:solidFill>
                <a:latin typeface="Aptos"/>
              </a:defRPr>
            </a:pPr>
            <a:r>
              <a:t>Audit entries do not store prompts, amounts, or documents.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4901183"/>
            <a:ext cx="2057400" cy="594360"/>
          </a:xfrm>
          <a:prstGeom prst="roundRect">
            <a:avLst/>
          </a:prstGeom>
          <a:solidFill>
            <a:srgbClr val="C34C4F"/>
          </a:solidFill>
          <a:ln>
            <a:solidFill>
              <a:srgbClr val="C34C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2104" y="5065775"/>
            <a:ext cx="1865376" cy="21945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1100" b="1" i="0">
                <a:solidFill>
                  <a:srgbClr val="FFFFFF"/>
                </a:solidFill>
                <a:latin typeface="Aptos"/>
              </a:defRPr>
            </a:pPr>
            <a:r>
              <a:t>OFFICIAL CHECKS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063240" y="4901183"/>
            <a:ext cx="8229600" cy="594360"/>
          </a:xfrm>
          <a:prstGeom prst="roundRect">
            <a:avLst/>
          </a:prstGeom>
          <a:solidFill>
            <a:srgbClr val="F2F7FA"/>
          </a:solidFill>
          <a:ln>
            <a:solidFill>
              <a:srgbClr val="E1F1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291840" y="5038344"/>
            <a:ext cx="7772400" cy="31089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1300" b="0" i="0">
                <a:solidFill>
                  <a:srgbClr val="1E3141"/>
                </a:solidFill>
                <a:latin typeface="Aptos"/>
              </a:defRPr>
            </a:pPr>
            <a:r>
              <a:t>Visa and proof-of-funds requirements must be verified with official authorities.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49808" y="5897880"/>
            <a:ext cx="10515600" cy="347472"/>
          </a:xfrm>
          <a:prstGeom prst="roundRect">
            <a:avLst/>
          </a:prstGeom>
          <a:solidFill>
            <a:srgbClr val="FFF4DE"/>
          </a:solidFill>
          <a:ln>
            <a:solidFill>
              <a:srgbClr val="FFF4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5952744"/>
            <a:ext cx="10149840" cy="17373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1000" b="1" i="0">
                <a:solidFill>
                  <a:srgbClr val="102A43"/>
                </a:solidFill>
                <a:latin typeface="Aptos"/>
              </a:defRPr>
            </a:pPr>
            <a:r>
              <a:t>Known limits: no live FX, no provider verification, no bank integration, no legal/immigration determination.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6537960"/>
            <a:ext cx="8046720" cy="16459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800" b="1" i="0">
                <a:solidFill>
                  <a:srgbClr val="5D7080"/>
                </a:solidFill>
                <a:latin typeface="Aptos"/>
              </a:defRPr>
            </a:pPr>
            <a:r>
              <a:t>BORDERWISE AI  /  FINTECHATHON 2026  /  TOPIC C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155680" y="6510528"/>
            <a:ext cx="502920" cy="20116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r">
              <a:defRPr sz="900" b="1" i="0">
                <a:solidFill>
                  <a:srgbClr val="168AAD"/>
                </a:solidFill>
                <a:latin typeface="Aptos"/>
              </a:defRPr>
            </a:pPr>
            <a: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20040"/>
            <a:ext cx="548640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900" b="1" i="0">
                <a:solidFill>
                  <a:srgbClr val="168AAD"/>
                </a:solidFill>
                <a:latin typeface="Aptos"/>
              </a:defRPr>
            </a:pPr>
            <a:r>
              <a:t>06 / EXECUTION EVIDENCE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58368"/>
            <a:ext cx="11064240" cy="53035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2900" b="1" i="0">
                <a:solidFill>
                  <a:srgbClr val="102A43"/>
                </a:solidFill>
                <a:latin typeface="Aptos"/>
              </a:defRPr>
            </a:pPr>
            <a:r>
              <a:t>What we can demonstrate today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00200"/>
            <a:ext cx="3337560" cy="3520440"/>
          </a:xfrm>
          <a:prstGeom prst="roundRect">
            <a:avLst/>
          </a:prstGeom>
          <a:solidFill>
            <a:srgbClr val="F2F7FA"/>
          </a:solidFill>
          <a:ln>
            <a:solidFill>
              <a:srgbClr val="E1F1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920240"/>
            <a:ext cx="2743200" cy="7315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3800" b="1" i="0">
                <a:solidFill>
                  <a:srgbClr val="3A9173"/>
                </a:solidFill>
                <a:latin typeface="Aptos"/>
              </a:defRPr>
            </a:pPr>
            <a:r>
              <a:t>21 / 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788920"/>
            <a:ext cx="274320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1800" b="1" i="0">
                <a:solidFill>
                  <a:srgbClr val="102A43"/>
                </a:solidFill>
                <a:latin typeface="Aptos"/>
              </a:defRPr>
            </a:pPr>
            <a:r>
              <a:t>automated tests passed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3429000"/>
            <a:ext cx="2651760" cy="6858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1200" b="0" i="0">
                <a:solidFill>
                  <a:srgbClr val="5D7080"/>
                </a:solidFill>
                <a:latin typeface="Aptos"/>
              </a:defRPr>
            </a:pPr>
            <a:r>
              <a:t>Arithmetic • invalid inputs • quote ranking • tool allowlist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0" y="1645920"/>
            <a:ext cx="676656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E1F1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00600" y="1764792"/>
            <a:ext cx="155448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400" b="1" i="0">
                <a:solidFill>
                  <a:srgbClr val="168AAD"/>
                </a:solidFill>
                <a:latin typeface="Aptos"/>
              </a:defRPr>
            </a:pPr>
            <a:r>
              <a:t>HTTP smoke test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755648"/>
            <a:ext cx="4572000" cy="39319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1200" b="0" i="0">
                <a:solidFill>
                  <a:srgbClr val="1E3141"/>
                </a:solidFill>
                <a:latin typeface="Aptos"/>
              </a:defRPr>
            </a:pPr>
            <a:r>
              <a:t>Local page, health route and budget API responded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0" y="2560320"/>
            <a:ext cx="676656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E1F1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00600" y="2679191"/>
            <a:ext cx="155448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400" b="1" i="0">
                <a:solidFill>
                  <a:srgbClr val="168AAD"/>
                </a:solidFill>
                <a:latin typeface="Aptos"/>
              </a:defRPr>
            </a:pPr>
            <a:r>
              <a:t>Repeatable logic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2670048"/>
            <a:ext cx="4572000" cy="39319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1200" b="0" i="0">
                <a:solidFill>
                  <a:srgbClr val="1E3141"/>
                </a:solidFill>
                <a:latin typeface="Aptos"/>
              </a:defRPr>
            </a:pPr>
            <a:r>
              <a:t>Deterministic functions isolated from LLM responses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0" y="3474720"/>
            <a:ext cx="676656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E1F1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00600" y="3593591"/>
            <a:ext cx="155448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400" b="1" i="0">
                <a:solidFill>
                  <a:srgbClr val="168AAD"/>
                </a:solidFill>
                <a:latin typeface="Aptos"/>
              </a:defRPr>
            </a:pPr>
            <a:r>
              <a:t>Safe demo mode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3584448"/>
            <a:ext cx="4572000" cy="39319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1200" b="0" i="0">
                <a:solidFill>
                  <a:srgbClr val="1E3141"/>
                </a:solidFill>
                <a:latin typeface="Aptos"/>
              </a:defRPr>
            </a:pPr>
            <a:r>
              <a:t>Works without API key and uses fictional values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0" y="4389120"/>
            <a:ext cx="676656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E1F1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800600" y="4507992"/>
            <a:ext cx="155448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400" b="1" i="0">
                <a:solidFill>
                  <a:srgbClr val="168AAD"/>
                </a:solidFill>
                <a:latin typeface="Aptos"/>
              </a:defRPr>
            </a:pPr>
            <a:r>
              <a:t>Next evidence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4498848"/>
            <a:ext cx="4572000" cy="39319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1200" b="0" i="0">
                <a:solidFill>
                  <a:srgbClr val="1E3141"/>
                </a:solidFill>
                <a:latin typeface="Aptos"/>
              </a:defRPr>
            </a:pPr>
            <a:r>
              <a:t>Capture the real browser walkthrough and test output before upload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0" y="5486400"/>
            <a:ext cx="6766560" cy="493776"/>
          </a:xfrm>
          <a:prstGeom prst="roundRect">
            <a:avLst/>
          </a:prstGeom>
          <a:solidFill>
            <a:srgbClr val="E1F1F7"/>
          </a:solidFill>
          <a:ln>
            <a:solidFill>
              <a:srgbClr val="E1F1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736592" y="5596128"/>
            <a:ext cx="6400800" cy="21945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1100" b="1" i="0">
                <a:solidFill>
                  <a:srgbClr val="102A43"/>
                </a:solidFill>
                <a:latin typeface="Aptos"/>
              </a:defRPr>
            </a:pPr>
            <a:r>
              <a:t>Unit tests are not a security audit or an end-to-end UI test.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537960"/>
            <a:ext cx="8046720" cy="16459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800" b="1" i="0">
                <a:solidFill>
                  <a:srgbClr val="5D7080"/>
                </a:solidFill>
                <a:latin typeface="Aptos"/>
              </a:defRPr>
            </a:pPr>
            <a:r>
              <a:t>BORDERWISE AI  /  FINTECHATHON 2026  /  TOPIC C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155680" y="6510528"/>
            <a:ext cx="502920" cy="20116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r">
              <a:defRPr sz="900" b="1" i="0">
                <a:solidFill>
                  <a:srgbClr val="168AAD"/>
                </a:solidFill>
                <a:latin typeface="Aptos"/>
              </a:defRPr>
            </a:pPr>
            <a: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20040"/>
            <a:ext cx="548640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900" b="1" i="0">
                <a:solidFill>
                  <a:srgbClr val="168AAD"/>
                </a:solidFill>
                <a:latin typeface="Aptos"/>
              </a:defRPr>
            </a:pPr>
            <a:r>
              <a:t>07 / 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58368"/>
            <a:ext cx="11064240" cy="53035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2900" b="1" i="0">
                <a:solidFill>
                  <a:srgbClr val="102A43"/>
                </a:solidFill>
                <a:latin typeface="Aptos"/>
              </a:defRPr>
            </a:pPr>
            <a:r>
              <a:t>From demo to trusted student-finance infrastructure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1965960" cy="566928"/>
          </a:xfrm>
          <a:prstGeom prst="roundRect">
            <a:avLst/>
          </a:prstGeom>
          <a:solidFill>
            <a:srgbClr val="168AAD"/>
          </a:solidFill>
          <a:ln>
            <a:solidFill>
              <a:srgbClr val="168A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627632"/>
            <a:ext cx="1783080" cy="20116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1000" b="1" i="0">
                <a:solidFill>
                  <a:srgbClr val="FFFFFF"/>
                </a:solidFill>
                <a:latin typeface="Aptos"/>
              </a:defRPr>
            </a:pPr>
            <a:r>
              <a:t>NOW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71800" y="1508760"/>
            <a:ext cx="2926080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1600" b="1" i="0">
                <a:solidFill>
                  <a:srgbClr val="102A43"/>
                </a:solidFill>
                <a:latin typeface="Aptos"/>
              </a:defRPr>
            </a:pPr>
            <a:r>
              <a:t>Budget + quote calculator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52160" y="1517904"/>
            <a:ext cx="5303520" cy="31089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1300" b="0" i="0">
                <a:solidFill>
                  <a:srgbClr val="5D7080"/>
                </a:solidFill>
                <a:latin typeface="Aptos"/>
              </a:defRPr>
            </a:pPr>
            <a:r>
              <a:t>Usable local demo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377440"/>
            <a:ext cx="1965960" cy="566928"/>
          </a:xfrm>
          <a:prstGeom prst="roundRect">
            <a:avLst/>
          </a:prstGeom>
          <a:solidFill>
            <a:srgbClr val="145374"/>
          </a:solidFill>
          <a:ln>
            <a:solidFill>
              <a:srgbClr val="145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542032"/>
            <a:ext cx="1783080" cy="20116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1000" b="1" i="0">
                <a:solidFill>
                  <a:srgbClr val="FFFFFF"/>
                </a:solidFill>
                <a:latin typeface="Aptos"/>
              </a:defRPr>
            </a:pPr>
            <a:r>
              <a:t>NEXT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71800" y="2423160"/>
            <a:ext cx="2926080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1600" b="1" i="0">
                <a:solidFill>
                  <a:srgbClr val="102A43"/>
                </a:solidFill>
                <a:latin typeface="Aptos"/>
              </a:defRPr>
            </a:pPr>
            <a:r>
              <a:t>Trusted FX + timestamps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0" y="2432304"/>
            <a:ext cx="5303520" cy="31089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1300" b="0" i="0">
                <a:solidFill>
                  <a:srgbClr val="5D7080"/>
                </a:solidFill>
                <a:latin typeface="Aptos"/>
              </a:defRPr>
            </a:pPr>
            <a:r>
              <a:t>Source-backed rates &amp; stale-data checks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291840"/>
            <a:ext cx="1965960" cy="566928"/>
          </a:xfrm>
          <a:prstGeom prst="roundRect">
            <a:avLst/>
          </a:prstGeom>
          <a:solidFill>
            <a:srgbClr val="145374"/>
          </a:solidFill>
          <a:ln>
            <a:solidFill>
              <a:srgbClr val="145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3456432"/>
            <a:ext cx="1783080" cy="20116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1000" b="1" i="0">
                <a:solidFill>
                  <a:srgbClr val="FFFFFF"/>
                </a:solidFill>
                <a:latin typeface="Aptos"/>
              </a:defRPr>
            </a:pPr>
            <a:r>
              <a:t>LATER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71800" y="3337560"/>
            <a:ext cx="2926080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1600" b="1" i="0">
                <a:solidFill>
                  <a:srgbClr val="102A43"/>
                </a:solidFill>
                <a:latin typeface="Aptos"/>
              </a:defRPr>
            </a:pPr>
            <a:r>
              <a:t>Official country links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52160" y="3346704"/>
            <a:ext cx="5303520" cy="31089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1300" b="0" i="0">
                <a:solidFill>
                  <a:srgbClr val="5D7080"/>
                </a:solidFill>
                <a:latin typeface="Aptos"/>
              </a:defRPr>
            </a:pPr>
            <a:r>
              <a:t>Verified requirements with last-checked dates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4206240"/>
            <a:ext cx="1965960" cy="566928"/>
          </a:xfrm>
          <a:prstGeom prst="roundRect">
            <a:avLst/>
          </a:prstGeom>
          <a:solidFill>
            <a:srgbClr val="145374"/>
          </a:solidFill>
          <a:ln>
            <a:solidFill>
              <a:srgbClr val="145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4370831"/>
            <a:ext cx="1783080" cy="20116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1000" b="1" i="0">
                <a:solidFill>
                  <a:srgbClr val="FFFFFF"/>
                </a:solidFill>
                <a:latin typeface="Aptos"/>
              </a:defRPr>
            </a:pPr>
            <a:r>
              <a:t>BEFORE PRODUCTION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71800" y="4251959"/>
            <a:ext cx="2926080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1600" b="1" i="0">
                <a:solidFill>
                  <a:srgbClr val="102A43"/>
                </a:solidFill>
                <a:latin typeface="Aptos"/>
              </a:defRPr>
            </a:pPr>
            <a:r>
              <a:t>Privacy, compliance &amp; audit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52160" y="4261103"/>
            <a:ext cx="5303520" cy="31089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1300" b="0" i="0">
                <a:solidFill>
                  <a:srgbClr val="5D7080"/>
                </a:solidFill>
                <a:latin typeface="Aptos"/>
              </a:defRPr>
            </a:pPr>
            <a:r>
              <a:t>Independent security and jurisdiction review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7240" y="5486400"/>
            <a:ext cx="10607040" cy="640080"/>
          </a:xfrm>
          <a:prstGeom prst="roundRect">
            <a:avLst/>
          </a:prstGeom>
          <a:solidFill>
            <a:srgbClr val="102A43"/>
          </a:solidFill>
          <a:ln>
            <a:solidFill>
              <a:srgbClr val="102A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60120" y="5650992"/>
            <a:ext cx="10241280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1800" b="1" i="0">
                <a:solidFill>
                  <a:srgbClr val="FFFFFF"/>
                </a:solidFill>
                <a:latin typeface="Aptos"/>
              </a:defRPr>
            </a:pPr>
            <a:r>
              <a:t>BorderWise AI — clear costs, better comparisons, safer next steps.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537960"/>
            <a:ext cx="8046720" cy="16459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800" b="1" i="0">
                <a:solidFill>
                  <a:srgbClr val="5D7080"/>
                </a:solidFill>
                <a:latin typeface="Aptos"/>
              </a:defRPr>
            </a:pPr>
            <a:r>
              <a:t>BORDERWISE AI  /  FINTECHATHON 2026  /  TOPIC C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155680" y="6510528"/>
            <a:ext cx="502920" cy="20116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r">
              <a:defRPr sz="900" b="1" i="0">
                <a:solidFill>
                  <a:srgbClr val="168AAD"/>
                </a:solidFill>
                <a:latin typeface="Aptos"/>
              </a:defRPr>
            </a:pPr>
            <a:r>
              <a:t>08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BorderWise AI — Cross-border &amp; Student Finance Assistant</dc:title>
  <dc:subject>FinTechathon 2026 Topic C</dc:subject>
  <dc:creator>[Add team names]</dc:creator>
  <cp:keywords>FinTechathon, cross-border student finance, AI agent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